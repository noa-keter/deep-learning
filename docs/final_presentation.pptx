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 |  Ido</a:t>
            </a:r>
          </a:p>
          <a:p>
            <a:r>
              <a:t>- Title, both names, repo is public and linked.</a:t>
            </a:r>
          </a:p>
          <a:p>
            <a:r>
              <a:t>- One line only: detecting AI-generated images, and what the benchmark is really measuring.</a:t>
            </a:r>
          </a:p>
          <a:p>
            <a:r>
              <a:t>- Do not explain the 56 here; it is a hook for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 |  Ido</a:t>
            </a:r>
          </a:p>
          <a:p>
            <a:r>
              <a:t>- Set the scene: this gap is the known, published pattern, not our finding.</a:t>
            </a:r>
          </a:p>
          <a:p>
            <a:r>
              <a:t>- 0.908 -&gt; 0.655 is our own center_crop arm, so the audience meets our numbers early.</a:t>
            </a:r>
          </a:p>
          <a:p>
            <a:r>
              <a:t>- End on the question verbatim: process, or benchmark construction?</a:t>
            </a:r>
          </a:p>
          <a:p>
            <a:r>
              <a:t>- Do not mention size yet. That is the next slide's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  |  Ido</a:t>
            </a:r>
          </a:p>
          <a:p>
            <a:r>
              <a:t>- Walk the table left to right, then land the punchline: size identifies class AND generator.</a:t>
            </a:r>
          </a:p>
          <a:p>
            <a:r>
              <a:t>- Read the rule aloud. Emphasise zero parameters, no training, no pixels.</a:t>
            </a:r>
          </a:p>
          <a:p>
            <a:r>
              <a:t>- 0.977 beats every trained detector we will show. Let that sit for a beat.</a:t>
            </a:r>
          </a:p>
          <a:p>
            <a:r>
              <a:t>- This is the slide the whole talk hangs on. Do not rush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 |  Ido</a:t>
            </a:r>
          </a:p>
          <a:p>
            <a:r>
              <a:t>- Three beats: the fingerprint is fragile, prior work corrects once, we vary the correction.</a:t>
            </a:r>
          </a:p>
          <a:p>
            <a:r>
              <a:t>- Deliver 'They do not.' flatly and move on. It is the thesis; slide 11 is the evidence.</a:t>
            </a:r>
          </a:p>
          <a:p>
            <a:r>
              <a:t>- Keep this short, it is a hinge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 |  Ido</a:t>
            </a:r>
          </a:p>
          <a:p>
            <a:r>
              <a:t>- One sentence per paper, do not linger. The audience needs the chain, not the detail.</a:t>
            </a:r>
          </a:p>
          <a:p>
            <a:r>
              <a:t>- Grommelt is the one that matters: it proves the bias is real and worth 11 points.</a:t>
            </a:r>
          </a:p>
          <a:p>
            <a:r>
              <a:t>- Land on the bottom card: they correct once, we vary the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 |  Ido</a:t>
            </a:r>
          </a:p>
          <a:p>
            <a:r>
              <a:t>- Four tiles fast. Only the fourth needs a sentence: the format confound is gone.</a:t>
            </a:r>
          </a:p>
          <a:p>
            <a:r>
              <a:t>- Stress that the test split never touches training or model selection.</a:t>
            </a:r>
          </a:p>
          <a:p>
            <a:r>
              <a:t>- Balanced cells matter because every number later is a plain accuracy.</a:t>
            </a:r>
          </a:p>
          <a:p>
            <a:r>
              <a:t>- Licence is CC BY-NC-SA 4.0 if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 |  Ido</a:t>
            </a:r>
          </a:p>
          <a:p>
            <a:r>
              <a:t>- Top row a generated image, bottom row a real photo. Same four operations.</a:t>
            </a:r>
          </a:p>
          <a:p>
            <a:r>
              <a:t>- Crops zoom in: fewer, larger grid cells. Rescale keeps the whole frame and squashes it.</a:t>
            </a:r>
          </a:p>
          <a:p>
            <a:r>
              <a:t>- Two red callouts are the payload: pad == rescale on every generator, and only real photos get bars.</a:t>
            </a:r>
          </a:p>
          <a:p>
            <a:r>
              <a:t>- Plant it now, do not explain the consequence. Slide 12 collects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 |  Ido</a:t>
            </a:r>
          </a:p>
          <a:p>
            <a:r>
              <a:t>- Architecture in one breath, then spend the time on WHY from scratch: real == ImageNet.</a:t>
            </a:r>
          </a:p>
          <a:p>
            <a:r>
              <a:t>- That single fact rules out every pretrained backbone. Expect a question on it.</a:t>
            </a:r>
          </a:p>
          <a:p>
            <a:r>
              <a:t>- Config table: point, do not read.</a:t>
            </a:r>
          </a:p>
          <a:p>
            <a:r>
              <a:t>- Close on 56 runs / 2 GPU-hours, then hand over to Noa.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  |  NOA STARTS HERE  — handover</a:t>
            </a:r>
          </a:p>
          <a:p>
            <a:r>
              <a:t>- Open by re-anchoring: these two rules have no parameters and no training.</a:t>
            </a:r>
          </a:p>
          <a:p>
            <a:r>
              <a:t>- 0.977 flat across all 49 cells; the rule cannot tell in-domain from out-of-domain because it never looked at a generator.</a:t>
            </a:r>
          </a:p>
          <a:p>
            <a:r>
              <a:t>- Size-lookup 1.000 / 0.500 by shared resolution is the cleanest proof the cue is resolution and nothing else.</a:t>
            </a:r>
          </a:p>
          <a:p>
            <a:r>
              <a:t>- Then: so what do the trained detectors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  |  Noa</a:t>
            </a:r>
          </a:p>
          <a:p>
            <a:r>
              <a:t>- Orient the audience first: rows train, columns test, diagonal is in-domain.</a:t>
            </a:r>
          </a:p>
          <a:p>
            <a:r>
              <a:t>- Point at the three similar diagonals, then at the off-diagonals that are not similar.</a:t>
            </a:r>
          </a:p>
          <a:p>
            <a:r>
              <a:t>- Trace ADM's row across the four panels with a finger. 86/87 -&gt; 50s under rescale.</a:t>
            </a:r>
          </a:p>
          <a:p>
            <a:r>
              <a:t>- Do not read cells aloud. The pattern is the message.</a:t>
            </a:r>
          </a:p>
          <a:p>
            <a:r>
              <a:t>- Pad looks best. Flag that you will come back to it,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  |  Noa  — the slide that matters most</a:t>
            </a:r>
          </a:p>
          <a:p>
            <a:r>
              <a:t>- Left panel: each line is one generator; vertical order IS the ranking.</a:t>
            </a:r>
          </a:p>
          <a:p>
            <a:r>
              <a:t>- The crops agree almost perfectly. That agreement is the anchor: the ranking is a real, reproducible property of the data.</a:t>
            </a:r>
          </a:p>
          <a:p>
            <a:r>
              <a:t>- Measured against it, rescale produces an unrelated order. ADM goes first to last.</a:t>
            </a:r>
          </a:p>
          <a:p>
            <a:r>
              <a:t>- Honesty, say it out loud: at n = 7, rho = 0.000 is absence of evidence for association, NOT evidence of independence. The claim rests on the +0.964 and on the size of the move.</a:t>
            </a:r>
          </a:p>
          <a:p>
            <a:r>
              <a:t>- Seed disagreement averages 0.012-0.024 and never exceeds 0.076, so a seven-position inversion is far outside noise.</a:t>
            </a:r>
          </a:p>
          <a:p>
            <a:r>
              <a:t>- Close on the bottom line and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 |  Noa</a:t>
            </a:r>
          </a:p>
          <a:p>
            <a:r>
              <a:t>- Walk the three-step chain slowly; it is a proof, not a list.</a:t>
            </a:r>
          </a:p>
          <a:p>
            <a:r>
              <a:t>- Then the two numbers side by side: predicted ceiling 0.977, measured 0.978. That near-identity is the evidence.</a:t>
            </a:r>
          </a:p>
          <a:p>
            <a:r>
              <a:t>- Corroboration: pad is the ONLY arm whose transfer is indifferent to generator similarity, exactly as a border-reader would be.</a:t>
            </a:r>
          </a:p>
          <a:p>
            <a:r>
              <a:t>- Say the closing sentence verbatim. It is the project's thesis in one line.</a:t>
            </a:r>
          </a:p>
          <a:p>
            <a:r>
              <a:t>- Never call pad the best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 |  Noa</a:t>
            </a:r>
          </a:p>
          <a:p>
            <a:r>
              <a:t>- This is the cue-level check: behaviour said border, now the gradients say border.</a:t>
            </a:r>
          </a:p>
          <a:p>
            <a:r>
              <a:t>- In the chart, only the REAL group on the far right has a tall yellow (pad) bar.</a:t>
            </a:r>
          </a:p>
          <a:p>
            <a:r>
              <a:t>- Table's last column is the cleanest summary: real ranks first in 7 of 7 pad runs, 0-2 of 7 everywhere else.</a:t>
            </a:r>
          </a:p>
          <a:p>
            <a:r>
              <a:t>- Note rescale draws on the most centrally concentrated evidence of the four, 0.373.</a:t>
            </a:r>
          </a:p>
          <a:p>
            <a:r>
              <a:t>- Method caveat if asked: seed 0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  |  Noa  — densest slide, keep moving</a:t>
            </a:r>
          </a:p>
          <a:p>
            <a:r>
              <a:t>- Left: kill the obvious objection. Train 0.967 / 0.982 means capacity is not the limit.</a:t>
            </a:r>
          </a:p>
          <a:p>
            <a:r>
              <a:t>- The three-level split is the sharpest form of the headline: rescale is FINE in-domain and only fails cross-generator. A practitioner validating in-distribution sees nothing wrong.</a:t>
            </a:r>
          </a:p>
          <a:p>
            <a:r>
              <a:t>- Right: the spectra confirm the assumption we started from. Resampling really does attenuate the high frequencies that carry the fingerprint.</a:t>
            </a:r>
          </a:p>
          <a:p>
            <a:r>
              <a:t>- Four numbers, two groups. Do not narrate the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  |  Noa</a:t>
            </a:r>
          </a:p>
          <a:p>
            <a:r>
              <a:t>- Three findings, one sentence each. Do not re-derive them.</a:t>
            </a:r>
          </a:p>
          <a:p>
            <a:r>
              <a:t>- The recommendation is the takeaway you want remembered: report more than one correction.</a:t>
            </a:r>
          </a:p>
          <a:p>
            <a:r>
              <a:t>- State limitations plainly, do not apologise for them. ADM being unexplained is honest, and we say so in the report too.</a:t>
            </a:r>
          </a:p>
          <a:p>
            <a:r>
              <a:t>- Repo is public. Invite questions.</a:t>
            </a:r>
          </a:p>
          <a:p>
            <a:r>
              <a:t>- Running total to here: 13:05. Backup slides follow if questions need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Identical across all 56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If asked why we did not explain it: we have not tested a mechanism, so we do not claim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size_lookup is 1.000 on shared-resolution pairs and 0.500 otherwise, in 47 of 49 cells; the exceptions are the single 512-square Midjourney row. square_rule is flat 0.977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Curves are real minus fake, per generator, per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DEEP LEARNING  ·  TEL AVIV UNIVERSITY  ·  2026B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828800"/>
            <a:ext cx="1014343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Resolution Bias and</a:t>
            </a:r>
          </a:p>
          <a:p>
            <a:pPr algn="l">
              <a:lnSpc>
                <a:spcPct val="114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Cross-Generator Detection</a:t>
            </a:r>
          </a:p>
          <a:p>
            <a:pPr algn="l">
              <a:lnSpc>
                <a:spcPct val="114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of AI-Generated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0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Noa Keter  ·  Ido Josephsberg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31536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C4CBDC"/>
                </a:solidFill>
                <a:latin typeface="Calibri"/>
              </a:rPr>
              <a:t>Lecturer: Dr. Shay Maymon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7296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C4CBDC"/>
                </a:solidFill>
                <a:latin typeface="Consolas"/>
              </a:rPr>
              <a:t>github.com/noa-keter/deep-learning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224528"/>
            <a:ext cx="3108960" cy="1773936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23376" y="4407408"/>
            <a:ext cx="2670048" cy="9224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E8A33D"/>
                </a:solidFill>
                <a:latin typeface="Cambria"/>
              </a:rPr>
              <a:t>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200192"/>
            <a:ext cx="2743200" cy="7095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training runs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4 strategies x 7 generators x 2 seeds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MOTIVATION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141A2E"/>
                </a:solidFill>
                <a:latin typeface="Cambria"/>
              </a:rPr>
              <a:t>A detector that looks excellent, until the generator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64465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E3A59"/>
                </a:solidFill>
                <a:latin typeface="Calibri"/>
              </a:rPr>
              <a:t>Train a CNN to separate real photographs from images made by one generator, and it scores almost perfectly on that generator. Point it at a generator it has never seen and the accuracy falls off a cliff.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218688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127248"/>
            <a:ext cx="6062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The question this project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456432"/>
            <a:ext cx="6062472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How much of that in-distribution success reflects the generative process,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and how much reflects the way the benchmark was built?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81727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590288"/>
            <a:ext cx="6062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This gap is the published pattern, not our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919472"/>
            <a:ext cx="6062472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What is ours is the explanation — and it is not about the generators.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29968"/>
            <a:ext cx="2084831" cy="162763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26096" y="2212848"/>
            <a:ext cx="1645919" cy="846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1C7293"/>
                </a:solidFill>
                <a:latin typeface="Cambria"/>
              </a:rPr>
              <a:t>0.908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925165"/>
            <a:ext cx="1719072" cy="651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same generator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in-domain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2368" y="2029968"/>
            <a:ext cx="2084831" cy="162763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21824" y="2212848"/>
            <a:ext cx="1645919" cy="846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D9484E"/>
                </a:solidFill>
                <a:latin typeface="Cambria"/>
              </a:rPr>
              <a:t>0.655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5248" y="2925165"/>
            <a:ext cx="1719072" cy="651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unseen generator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cross-generator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785615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600" b="0" i="0">
                <a:solidFill>
                  <a:srgbClr val="6B7691"/>
                </a:solidFill>
                <a:latin typeface="Calibr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370832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89520" y="4572000"/>
            <a:ext cx="41148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a 25-point drop, from one change:</a:t>
            </a:r>
          </a:p>
          <a:p>
            <a:pPr algn="ctr">
              <a:lnSpc>
                <a:spcPct val="124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the generator at test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4498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6B7691"/>
                </a:solidFill>
                <a:latin typeface="Calibri"/>
              </a:rPr>
              <a:t>center_crop arm, mean of two seeds, n = 1,000 balanced images per cell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MOTIVATION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141A2E"/>
                </a:solidFill>
                <a:latin typeface="Cambria"/>
              </a:rPr>
              <a:t>Every generator emits one fixed size. Real photographs do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773936"/>
            <a:ext cx="1846992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7968" y="1773936"/>
            <a:ext cx="1100758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BigGAN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4758" y="1773936"/>
            <a:ext cx="225402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ADM  GLIDE  VQDM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4820" y="1773936"/>
            <a:ext cx="1711313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SD 1.5  Wukong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2166" y="1773936"/>
            <a:ext cx="1304276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Midjourney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2474" y="1773936"/>
            <a:ext cx="1304276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84832"/>
            <a:ext cx="11057839" cy="47548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4944" y="2084832"/>
            <a:ext cx="18469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Native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7968" y="2084832"/>
            <a:ext cx="110075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128²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4758" y="2084832"/>
            <a:ext cx="225402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256²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4820" y="2084832"/>
            <a:ext cx="17113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512²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2166" y="2084832"/>
            <a:ext cx="13042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1024²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2474" y="2084832"/>
            <a:ext cx="13042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34640"/>
            <a:ext cx="65379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E3A59"/>
                </a:solidFill>
                <a:latin typeface="Calibri"/>
              </a:rPr>
              <a:t>So the dimensions alone identify both the class and the generator. A detector can score well without ever examining pixel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85615"/>
            <a:ext cx="653796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7" y="3986784"/>
            <a:ext cx="5989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 spc="60">
                <a:solidFill>
                  <a:srgbClr val="6B7691"/>
                </a:solidFill>
                <a:latin typeface="Calibri"/>
              </a:rPr>
              <a:t>The shortcut, made explicit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52544"/>
            <a:ext cx="5989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141A2E"/>
                </a:solidFill>
                <a:latin typeface="Calibri"/>
              </a:rPr>
              <a:t>“Predict synthetic whenever the image is square.”</a:t>
            </a:r>
          </a:p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141A2E"/>
                </a:solidFill>
                <a:latin typeface="Calibri"/>
              </a:rPr>
              <a:t>Zero parameters. No training. No pixels.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2889504"/>
            <a:ext cx="4041648" cy="1828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90688" y="3072384"/>
            <a:ext cx="3602736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D9484E"/>
                </a:solidFill>
                <a:latin typeface="Cambria"/>
              </a:rPr>
              <a:t>0.977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3895344"/>
            <a:ext cx="36758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accuracy on every one of the 49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source → target pairs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4901184"/>
            <a:ext cx="40416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6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Higher than the cross-generator accuracy</a:t>
            </a:r>
          </a:p>
          <a:p>
            <a:pPr algn="ctr">
              <a:lnSpc>
                <a:spcPct val="126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of every trained detector in this talk.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MOTIVATION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Removing the cue is not a neutral 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38528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6976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fingerprint is high-frequency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176272"/>
            <a:ext cx="69768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Cropping discards context. Rescaling attenuates the very frequencies that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carry the signal. Padding introduces a border of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41985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328416"/>
            <a:ext cx="6976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Prior work applies one correction and reports the corrected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57600"/>
            <a:ext cx="69768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It does not ask whether the choice of correction changes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01183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809744"/>
            <a:ext cx="6976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We make the correction itself the experimental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138928"/>
            <a:ext cx="69768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One architecture, one dataset, one protocol, four ways of equalizing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871216"/>
            <a:ext cx="3310128" cy="1700784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40496" y="3108960"/>
            <a:ext cx="287121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Do the conclusions</a:t>
            </a:r>
          </a:p>
          <a:p>
            <a:pPr algn="ctr">
              <a:lnSpc>
                <a:spcPct val="12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survive that choice?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4041648"/>
            <a:ext cx="28712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 i="0">
                <a:solidFill>
                  <a:srgbClr val="D9484E"/>
                </a:solidFill>
                <a:latin typeface="Cambria"/>
              </a:rPr>
              <a:t>They do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Three papers, and where we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932688" cy="56692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700784"/>
            <a:ext cx="9326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19072"/>
            <a:ext cx="9464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Wang et al.  —  CNN-generated images are surprisingly easy to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66544"/>
            <a:ext cx="9464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Established the pattern: easy in-distribution, uneven transfer to unseen architectures.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16352"/>
            <a:ext cx="932688" cy="56692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2816352"/>
            <a:ext cx="9326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34640"/>
            <a:ext cx="9464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GenImage  —  a million-scale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82112"/>
            <a:ext cx="9464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Scaled the question and formalized the cross-generator protocol we adopt: train on one generator, evaluate on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31920"/>
            <a:ext cx="932688" cy="566928"/>
          </a:xfrm>
          <a:prstGeom prst="roundRect">
            <a:avLst>
              <a:gd name="adj" fmla="val 6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3931920"/>
            <a:ext cx="9326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950207"/>
            <a:ext cx="9464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Grommelt et al.  —  Fake or JPEG?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97680"/>
            <a:ext cx="9464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Showed GenImage carries two construction artifacts, JPEG compression and image size. Removing both adds &gt;11 points cross-generator.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8928"/>
            <a:ext cx="11057839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7" y="5321808"/>
            <a:ext cx="105091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41A2E"/>
                </a:solidFill>
                <a:latin typeface="Calibri"/>
              </a:rPr>
              <a:t>We take the size bias as established and begin where that work stops. It corrects the bias once, by a single mechanism. Our claim is different: the correction is itself a free parameter, and it reorders published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METHOD  ·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Tiny-GenImage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1883664"/>
            <a:ext cx="2176272" cy="789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35,000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35631"/>
            <a:ext cx="2249424" cy="607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images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8.4 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21024" y="1883664"/>
            <a:ext cx="2176272" cy="789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535631"/>
            <a:ext cx="2249424" cy="607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generators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2,500 images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1883664"/>
            <a:ext cx="2176272" cy="789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17,500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35631"/>
            <a:ext cx="2249424" cy="607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real ImageNet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photographs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1700784"/>
            <a:ext cx="2615184" cy="151790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90304" y="1883664"/>
            <a:ext cx="2176272" cy="789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C7293"/>
                </a:solidFill>
                <a:latin typeface="Cambria"/>
              </a:rPr>
              <a:t>1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535631"/>
            <a:ext cx="2249424" cy="607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generators is PNG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the rest are JPEG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102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29584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Format bias is largely absent here, which is what makes the subset usable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58768"/>
            <a:ext cx="1067379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GenImage's JPEG/PNG confound is gone; ADM alone is PNG. Size is the only substantial surviving confound — exactly the one we want to study.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35423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443983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Splits, and why no reported number ever influenced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773168"/>
            <a:ext cx="1067379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3,600 train / 400 validation per run, from the shipped train split. The shipped validation split is held out as our test set: 4,000 images. Model selection uses the internal validation set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449823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358383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Every matrix cell is exactly balanced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687568"/>
            <a:ext cx="1067379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500 target fakes + the same fixed 500 real images, so n = 1,000 and accuracy is directly interpretable. Binomial standard error ±1.6 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METHOD  · 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Four ways to make every image 128 × 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9105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The first two preserve native pixel statistics and discard content. The last two resample — and pad adds a border.</a:t>
            </a:r>
          </a:p>
        </p:txBody>
      </p:sp>
      <p:pic>
        <p:nvPicPr>
          <p:cNvPr id="5" name="Picture 4" descr="strategi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87" y="1956816"/>
            <a:ext cx="105959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METHOD  ·  MODEL +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One architecture, held fixed, 56 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9222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00784"/>
            <a:ext cx="6291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Compact CNN, 1.17 M parameters, trained from scratch in PyTorch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029968"/>
            <a:ext cx="6291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Four blocks of [Conv 3×3, BatchNorm, ReLU] ×2 then 2×2 max-pool, widths 32/64/128/256, global average pooling, dropout 0.3, one linear unit.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2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16352"/>
            <a:ext cx="6291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From scratch is required, not stylistic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145536"/>
            <a:ext cx="6291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The real class is ImageNet. An ImageNet-pretrained backbone would arrive having already seen the negative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23359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931920"/>
            <a:ext cx="6291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Two choices follow from the nature of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261104"/>
            <a:ext cx="6291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Nothing downsamples before the end of block one, because the cue is high-frequency. The head is global average pooling, because the evidence is a location-free texture statistic.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4" y="1773936"/>
            <a:ext cx="1440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0936" y="1773936"/>
            <a:ext cx="21530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2011680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44384" y="2011680"/>
            <a:ext cx="1440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0936" y="2011680"/>
            <a:ext cx="2153071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AdamW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2368296"/>
            <a:ext cx="1440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Learning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0936" y="2368296"/>
            <a:ext cx="2153071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3×10⁻⁴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2724912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44384" y="2724912"/>
            <a:ext cx="1440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Weight decay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0936" y="2724912"/>
            <a:ext cx="2153071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1×10⁻⁴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4" y="3081528"/>
            <a:ext cx="1440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0936" y="3081528"/>
            <a:ext cx="2153071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cosine to 0,  40 epochs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3438144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44384" y="3438144"/>
            <a:ext cx="1440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Batch / 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0936" y="3438144"/>
            <a:ext cx="2153071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128,  AMP float16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4" y="3794760"/>
            <a:ext cx="1440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Augmentation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0936" y="3794760"/>
            <a:ext cx="2153071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horizontal flip, p = 0.5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16368" y="4151376"/>
            <a:ext cx="4105656" cy="35661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44384" y="4151376"/>
            <a:ext cx="1440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0936" y="4151376"/>
            <a:ext cx="2153071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best internal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16368" y="4626864"/>
            <a:ext cx="4105656" cy="1170432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17536" y="4791456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C4CBDC"/>
                </a:solidFill>
                <a:latin typeface="Calibri"/>
              </a:rPr>
              <a:t>4 strategies  ×  7 sources  ×  2 seeds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6" y="5120640"/>
            <a:ext cx="37033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56 runs   ·   ~2 GPU-hours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5907024"/>
            <a:ext cx="4105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7691"/>
                </a:solidFill>
                <a:latin typeface="Calibri"/>
              </a:rPr>
              <a:t>free-tier Colab T4,  127 s per run,  each evaluated on all seven targets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RESULTS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What every trained detector is competing against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83664"/>
            <a:ext cx="3547872" cy="2066543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2066544"/>
            <a:ext cx="3108960" cy="10746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D9484E"/>
                </a:solidFill>
                <a:latin typeface="Cambria"/>
              </a:rPr>
              <a:t>0.977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20263"/>
            <a:ext cx="3182112" cy="826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square rule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the same score on all 49 cells,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diagonal and off-diagonal alike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883664"/>
            <a:ext cx="3547872" cy="2066543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35424" y="2066544"/>
            <a:ext cx="3108960" cy="10746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8A33D"/>
                </a:solidFill>
                <a:latin typeface="Cambria"/>
              </a:rPr>
              <a:t>1.000 / 0.619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3020263"/>
            <a:ext cx="3182112" cy="826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size-lookup rule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diagonal / off-diagonal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83664"/>
            <a:ext cx="3538728" cy="2066543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02752" y="2212848"/>
            <a:ext cx="30998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Neither rule measures</a:t>
            </a:r>
          </a:p>
          <a:p>
            <a:pPr algn="ctr">
              <a:lnSpc>
                <a:spcPct val="124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anything about the</a:t>
            </a:r>
          </a:p>
          <a:p>
            <a:pPr algn="ctr">
              <a:lnSpc>
                <a:spcPct val="124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generative process.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255264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This is the shortcut every</a:t>
            </a:r>
          </a:p>
          <a:p>
            <a:pPr algn="ctr">
              <a:lnSpc>
                <a:spcPct val="122000"/>
              </a:lnSpc>
            </a:pPr>
            <a:r>
              <a:rPr sz="1250" b="0" i="0">
                <a:solidFill>
                  <a:srgbClr val="C4CBDC"/>
                </a:solidFill>
                <a:latin typeface="Calibri"/>
              </a:rPr>
              <a:t>trained detector competes against.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5254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261104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Why the square rule works: TPR 1.000, TNR 0.954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590288"/>
            <a:ext cx="1067379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Every generated image in this dataset is square, and 95.4 % of real photographs are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85231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193792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size-lookup rule exposes the mechanism exactly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522976"/>
            <a:ext cx="1067379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It scores 1.000 whenever source and target share a native resolution and exactly 0.500 whenever they do not — in 47 of 49 cells. The two exceptions trace to a single 512² Midjourney row.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RESULTS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Four corrections, four different pictures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Rows are the generator a detector trained on, columns the generator it was evaluated on. Two seeds, n = 1,000 per cell, one shared colour scale.</a:t>
            </a:r>
          </a:p>
        </p:txBody>
      </p:sp>
      <p:pic>
        <p:nvPicPr>
          <p:cNvPr id="5" name="Picture 4" descr="transfer_matrices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93392"/>
            <a:ext cx="11057839" cy="33457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413248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5632704"/>
            <a:ext cx="1050919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0" i="0">
                <a:solidFill>
                  <a:srgbClr val="141A2E"/>
                </a:solidFill>
                <a:latin typeface="Calibri"/>
              </a:rPr>
              <a:t>The diagonals are broadly similar — 90.8, 89.2, 90.2. The off-diagonal structure is not, and that difference is the result. ADM's row is the clearest case: strong under both crops, at chance under rescale.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RESULTS  ·  3 OF 4  ·  THE 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The ranking does not survive the correction</a:t>
            </a:r>
          </a:p>
        </p:txBody>
      </p:sp>
      <p:pic>
        <p:nvPicPr>
          <p:cNvPr id="4" name="Picture 3" descr="ranking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7461504" cy="32587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47888" y="1700784"/>
            <a:ext cx="3383280" cy="13167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67344" y="1883664"/>
            <a:ext cx="2944368" cy="6847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C7293"/>
                </a:solidFill>
                <a:latin typeface="Cambria"/>
              </a:rPr>
              <a:t>ρ = +0.964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7" y="2424988"/>
            <a:ext cx="3017520" cy="5266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the two non-resampling arms agree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p = 0.003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3145536"/>
            <a:ext cx="3383280" cy="13167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67344" y="3328416"/>
            <a:ext cx="2944368" cy="6847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9484E"/>
                </a:solidFill>
                <a:latin typeface="Cambria"/>
              </a:rPr>
              <a:t>ρ = 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7" y="3869740"/>
            <a:ext cx="3017520" cy="5266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rescale retains none of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that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4590288"/>
            <a:ext cx="3383280" cy="1481328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49056" y="4773168"/>
            <a:ext cx="2980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 spc="60">
                <a:solidFill>
                  <a:srgbClr val="C4CBDC"/>
                </a:solidFill>
                <a:latin typeface="Calibri"/>
              </a:rPr>
              <a:t>ADM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5102352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500" b="1" i="0">
                <a:solidFill>
                  <a:srgbClr val="FFFFFF"/>
                </a:solidFill>
                <a:latin typeface="Cambria"/>
              </a:rPr>
              <a:t>1st  →  7th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5596128"/>
            <a:ext cx="298094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4CBDC"/>
                </a:solidFill>
                <a:latin typeface="Calibri"/>
              </a:rPr>
              <a:t>best source under both crops,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4CBDC"/>
                </a:solidFill>
                <a:latin typeface="Calibri"/>
              </a:rPr>
              <a:t>worst under rescaling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 i="0">
                <a:solidFill>
                  <a:srgbClr val="141A2E"/>
                </a:solidFill>
                <a:latin typeface="Calibri"/>
              </a:rPr>
              <a:t>Two papers using the same data, architecture and protocol would disagree about which generator is hardest — purely because one rescaled and the other cropped.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RESULTS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D9484E"/>
                </a:solidFill>
                <a:latin typeface="Cambria"/>
              </a:rPr>
              <a:t>pad scores highest — and that is the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6446520" cy="89611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Every generator is 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so padding changes nothing for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96896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6B7691"/>
                </a:solidFill>
                <a:latin typeface="Calibr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52928"/>
            <a:ext cx="6446520" cy="89611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980944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Only real photos get bars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28416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variable aspect ratio, so they alone are padded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49039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6B7691"/>
                </a:solidFill>
                <a:latin typeface="Calibr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05072"/>
            <a:ext cx="6446520" cy="89611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4133087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The border becomes a perfect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border ⇔ real, learnable in a few epochs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700784"/>
            <a:ext cx="4206240" cy="148132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26096" y="1883664"/>
            <a:ext cx="3767327" cy="7702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6B7691"/>
                </a:solidFill>
                <a:latin typeface="Cambria"/>
              </a:rPr>
              <a:t>0.977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515514"/>
            <a:ext cx="3840479" cy="592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where a pure border-reader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would ceiling:  (1.000 + 0.954) /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310128"/>
            <a:ext cx="4206240" cy="129844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6096" y="3493008"/>
            <a:ext cx="3767327" cy="675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D9484E"/>
                </a:solidFill>
                <a:latin typeface="Cambria"/>
              </a:rPr>
              <a:t>0.978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4024274"/>
            <a:ext cx="3840479" cy="5193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pad's measured diagonal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773168"/>
            <a:ext cx="4206240" cy="1316736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6096" y="4937760"/>
            <a:ext cx="3767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60">
                <a:solidFill>
                  <a:srgbClr val="C4CBDC"/>
                </a:solidFill>
                <a:latin typeface="Calibri"/>
              </a:rPr>
              <a:t>Corroboration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5230368"/>
            <a:ext cx="37673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Sharing a native resolution helps transfer by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+0.113, +0.113, +0.135 in the other three arms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but only +0.007 for pad.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66944"/>
            <a:ext cx="64465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Higher accuracy here marks a worse experiment, not a better detector. Padding does not remove the size confound — it re-encodes it as a visible border.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ANALYSIS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41A2E"/>
                </a:solidFill>
                <a:latin typeface="Cambria"/>
              </a:rPr>
              <a:t>The model really is reading its border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 i="0">
                <a:solidFill>
                  <a:srgbClr val="2E3A59"/>
                </a:solidFill>
                <a:latin typeface="Calibri"/>
              </a:rPr>
              <a:t>Input-gradient saliency, 200 images per tag, seed 0. Border mass is the fraction of the mean saliency map falling in the outer 16-pixel ring — against a uniform null of 0.4375.</a:t>
            </a:r>
          </a:p>
        </p:txBody>
      </p:sp>
      <p:pic>
        <p:nvPicPr>
          <p:cNvPr id="5" name="Picture 4" descr="attribution_border_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57984"/>
            <a:ext cx="6547104" cy="19495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4928" y="2194560"/>
            <a:ext cx="10451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26126" y="2194560"/>
            <a:ext cx="6603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2464" y="2194560"/>
            <a:ext cx="9352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Generators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3702" y="2194560"/>
            <a:ext cx="6603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 spc="60">
                <a:solidFill>
                  <a:srgbClr val="6B7691"/>
                </a:solidFill>
                <a:latin typeface="Calibri"/>
              </a:rPr>
              <a:t>Real 1st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2487168"/>
            <a:ext cx="4325112" cy="4023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4928" y="2487168"/>
            <a:ext cx="104516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center_crop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6126" y="2487168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0.4345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2464" y="2487168"/>
            <a:ext cx="93520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0.4243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3702" y="2487168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889503"/>
            <a:ext cx="104516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random_crop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6126" y="2889503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2464" y="2889503"/>
            <a:ext cx="93520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0.4175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3702" y="2889503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1 of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3291839"/>
            <a:ext cx="4325112" cy="402336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24928" y="3291839"/>
            <a:ext cx="104516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rescale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6126" y="3291839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0.3793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2464" y="3291839"/>
            <a:ext cx="93520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0.3721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3702" y="3291839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3694176"/>
            <a:ext cx="104516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2E3A59"/>
                </a:solidFill>
                <a:latin typeface="Calibri"/>
              </a:rPr>
              <a:t>pad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6126" y="3694176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0.5613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2464" y="3694176"/>
            <a:ext cx="93520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0.4113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3702" y="3694176"/>
            <a:ext cx="6603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7 of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6912" y="4114800"/>
            <a:ext cx="4325112" cy="1773936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6368" y="4297680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two groups do not overlap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4645152"/>
            <a:ext cx="388620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4CBDC"/>
                </a:solidFill>
                <a:latin typeface="Calibri"/>
              </a:rPr>
              <a:t>Every pad run exceeds +0.11 over its own generator mean. No run in any other arm reaches +0.04.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4CBD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4CBDC"/>
                </a:solidFill>
                <a:latin typeface="Calibri"/>
              </a:rPr>
              <a:t>Padding does not raise edge saliency in general — only the class that receives a border is affected.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718304"/>
            <a:ext cx="6547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00" b="1" i="0">
                <a:solidFill>
                  <a:srgbClr val="141A2E"/>
                </a:solidFill>
                <a:latin typeface="Calibri"/>
              </a:rPr>
              <a:t>This confirms from inside the model what the accuracies alone could only imply.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413248"/>
            <a:ext cx="6547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rescale also draws on the most centrally concentrated evidence of the four arms, 0.373 against 0.419 to 0.430.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ANALYSIS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141A2E"/>
                </a:solidFill>
                <a:latin typeface="Cambria"/>
              </a:rPr>
              <a:t>Not an undertrained CNN — and here is 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6B7691"/>
                </a:solidFill>
                <a:latin typeface="Calibri"/>
              </a:rPr>
              <a:t>Is the weak transfer simply a small network trained badly?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066544"/>
            <a:ext cx="12596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0661" y="2066544"/>
            <a:ext cx="774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1349" y="2066544"/>
            <a:ext cx="12596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In-domain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7066" y="2066544"/>
            <a:ext cx="12596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Cross-generator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14016"/>
            <a:ext cx="5577840" cy="42062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414016"/>
            <a:ext cx="12596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center_crop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0661" y="2414016"/>
            <a:ext cx="77465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1349" y="2414016"/>
            <a:ext cx="12596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7066" y="2414016"/>
            <a:ext cx="12596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0.655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834640"/>
            <a:ext cx="12596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rescale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0661" y="2834640"/>
            <a:ext cx="77465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1349" y="2834640"/>
            <a:ext cx="12596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0.902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7066" y="2834640"/>
            <a:ext cx="12596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D9484E"/>
                </a:solidFill>
                <a:latin typeface="Calibri"/>
              </a:rPr>
              <a:t>0.563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401568"/>
            <a:ext cx="55778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 i="0">
                <a:solidFill>
                  <a:srgbClr val="2E3A59"/>
                </a:solidFill>
                <a:latin typeface="Calibri"/>
              </a:rPr>
              <a:t>At 96.7 – 98.2 % train accuracy the network is close to memorizing its 3,600 images, so the modest in-domain number is a variance limit, not a capacity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69663"/>
            <a:ext cx="5577840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4672" y="4352544"/>
            <a:ext cx="5102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141A2E"/>
                </a:solidFill>
                <a:latin typeface="Calibri"/>
              </a:rPr>
              <a:t>rescale fits its training set better, matches center_crop on held-out images of the same generator, and collapses only when the generator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266944"/>
            <a:ext cx="5577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Doubling the epoch budget from 40 to 80 on three generators moved in-domain accuracy +0.020 and cross-generator −0.007. More training buys fit, and nothing in transfer.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1609344"/>
            <a:ext cx="5166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6B7691"/>
                </a:solidFill>
                <a:latin typeface="Calibri"/>
              </a:rPr>
              <a:t>Radially averaged spectra close the loop</a:t>
            </a:r>
          </a:p>
        </p:txBody>
      </p:sp>
      <p:pic>
        <p:nvPicPr>
          <p:cNvPr id="23" name="Picture 22" descr="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993392"/>
            <a:ext cx="5166360" cy="13708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55664" y="3529584"/>
            <a:ext cx="5166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6B7691"/>
                </a:solidFill>
                <a:latin typeface="Calibri"/>
              </a:rPr>
              <a:t>Real minus fake, mean log₁₀ power above 0.35 cycles / pixel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3895344"/>
            <a:ext cx="1207008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55664" y="4041648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1C7293"/>
                </a:solidFill>
                <a:latin typeface="Cambria"/>
              </a:rPr>
              <a:t>+0.256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498848"/>
            <a:ext cx="1207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center_crop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895344"/>
            <a:ext cx="1207008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0" y="4041648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1C7293"/>
                </a:solidFill>
                <a:latin typeface="Cambria"/>
              </a:rPr>
              <a:t>+0.253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98848"/>
            <a:ext cx="1207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random_crop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3895344"/>
            <a:ext cx="1207008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89136" y="4041648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D9484E"/>
                </a:solidFill>
                <a:latin typeface="Cambria"/>
              </a:rPr>
              <a:t>+0.075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4498848"/>
            <a:ext cx="1207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rescale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05872" y="3895344"/>
            <a:ext cx="1207008" cy="969264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405872" y="4041648"/>
            <a:ext cx="12070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 i="0">
                <a:solidFill>
                  <a:srgbClr val="D9484E"/>
                </a:solidFill>
                <a:latin typeface="Cambria"/>
              </a:rPr>
              <a:t>+0.058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4498848"/>
            <a:ext cx="1207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0" i="0">
                <a:solidFill>
                  <a:srgbClr val="6B7691"/>
                </a:solidFill>
                <a:latin typeface="Calibri"/>
              </a:rPr>
              <a:t>pad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5047488"/>
            <a:ext cx="5166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1" i="0">
                <a:solidFill>
                  <a:srgbClr val="141A2E"/>
                </a:solidFill>
                <a:latin typeface="Calibri"/>
              </a:rPr>
              <a:t>Both resampling arms lose roughly two thirds of the high-frequency separation the crops retain. That is the mechanism behind the transfer collapse.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SUMMARY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Three findings that survive our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9222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00784"/>
            <a:ext cx="7205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zero-parameter size rule beats every trained detector cross-generator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029968"/>
            <a:ext cx="72054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So cross-generator numbers reported without an explicit size correction are largely uninterpretable.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71216"/>
            <a:ext cx="7205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correction is not a neutral preprocessing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0"/>
            <a:ext cx="72054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Strategies preserving native pixels agree on generator difficulty (ρ = +0.964); resampling gives an unrelated ordering. A published ranking depends partly on a choice that is rarely reported.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33087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041648"/>
            <a:ext cx="7205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correction can raise accuracy while making the experiment worse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70832"/>
            <a:ext cx="72054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4CBDC"/>
                </a:solidFill>
                <a:latin typeface="Calibri"/>
              </a:rPr>
              <a:t>pad trades the size cue for a border cue — found by attribution in all seven of its runs, and in none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00784"/>
            <a:ext cx="3310128" cy="1572768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40496" y="1883664"/>
            <a:ext cx="2871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60">
                <a:solidFill>
                  <a:srgbClr val="D9484E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194560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Treat size equalization</a:t>
            </a:r>
          </a:p>
          <a:p>
            <a:pPr algn="l">
              <a:lnSpc>
                <a:spcPct val="126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as a first-class</a:t>
            </a:r>
          </a:p>
          <a:p>
            <a:pPr algn="l">
              <a:lnSpc>
                <a:spcPct val="126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methodological choice —</a:t>
            </a:r>
          </a:p>
          <a:p>
            <a:pPr algn="l">
              <a:lnSpc>
                <a:spcPct val="126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and report more than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401568"/>
            <a:ext cx="3310128" cy="1517904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40496" y="3566160"/>
            <a:ext cx="2871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60">
                <a:solidFill>
                  <a:srgbClr val="C4CBDC"/>
                </a:solidFill>
                <a:latin typeface="Calibri"/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858768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C4CBDC"/>
                </a:solidFill>
                <a:latin typeface="Calibri"/>
              </a:rPr>
              <a:t>One architecture, one input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C4CBDC"/>
                </a:solidFill>
                <a:latin typeface="Calibri"/>
              </a:rPr>
              <a:t>resolution. Two seeds. n = 7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C4CBDC"/>
                </a:solidFill>
                <a:latin typeface="Calibri"/>
              </a:rPr>
              <a:t>generators. Attribution on</a:t>
            </a:r>
          </a:p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C4CBDC"/>
                </a:solidFill>
                <a:latin typeface="Calibri"/>
              </a:rPr>
              <a:t>seed 0. ADM unexplained.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94960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2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9536" y="55595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C4CBDC"/>
                </a:solidFill>
                <a:latin typeface="Calibri"/>
              </a:rPr>
              <a:t>Code, run instructions, split definitions and every metrics.json from the 56 runs: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85216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github.com/noa-keter/deep-learning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614416"/>
            <a:ext cx="37490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700" b="1" i="0">
                <a:solidFill>
                  <a:srgbClr val="E8A33D"/>
                </a:solidFill>
                <a:latin typeface="Cambria"/>
              </a:rPr>
              <a:t>Thank you  —  questions?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BACKUP  ·  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A2E"/>
                </a:solidFill>
                <a:latin typeface="Cambria"/>
              </a:rPr>
              <a:t>Full 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773936"/>
            <a:ext cx="2226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7316" y="1773936"/>
            <a:ext cx="267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1028" y="1773936"/>
            <a:ext cx="2226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3400" y="1773936"/>
            <a:ext cx="29033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 spc="60">
                <a:solidFill>
                  <a:srgbClr val="6B7691"/>
                </a:solidFill>
                <a:latin typeface="Calibri"/>
              </a:rPr>
              <a:t>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66544"/>
            <a:ext cx="11057839" cy="39319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2066544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7316" y="2066544"/>
            <a:ext cx="267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AdamW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1028" y="2066544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3400" y="2066544"/>
            <a:ext cx="290335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BCE-with-logits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459736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Learning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7316" y="2459736"/>
            <a:ext cx="267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3×10⁻⁴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1028" y="2459736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3400" y="2459736"/>
            <a:ext cx="290335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AMP float16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52928"/>
            <a:ext cx="11057839" cy="39319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4944" y="2852928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Weight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7316" y="2852928"/>
            <a:ext cx="267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1×10⁻⁴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1028" y="2852928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Augmentation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3400" y="2852928"/>
            <a:ext cx="290335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h-flip, p =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3246120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7316" y="3246120"/>
            <a:ext cx="267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cosine to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1028" y="3246120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Normalization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3400" y="3246120"/>
            <a:ext cx="290335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(x/255 − 0.5) / 0.5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639312"/>
            <a:ext cx="11057839" cy="39319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4944" y="3639312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Batch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7316" y="3639312"/>
            <a:ext cx="267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128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1028" y="3639312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3400" y="3639312"/>
            <a:ext cx="290335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best internal 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032504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3A59"/>
                </a:solidFill>
                <a:latin typeface="Calibri"/>
              </a:rPr>
              <a:t>Epochs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7316" y="4032504"/>
            <a:ext cx="267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11028" y="4032504"/>
            <a:ext cx="222634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Hardware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3400" y="4032504"/>
            <a:ext cx="290335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Colab T4, torch 2.11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791455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4700016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1,173,473 parameters; receptive field 76×76 at the final block, 59 % of the image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5029200"/>
            <a:ext cx="10673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Four blocks of [Conv 3×3, BatchNorm, ReLU] ×2 then 2×2 max-pool, widths 32/64/128/256, taking 128×128 down to 8×8; global average pooling; dropout 0.3; one linear unit.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833871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742431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Why horizontal flip is the only augmentation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6071616"/>
            <a:ext cx="106737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Random resized cropping, JPEG jitter and blur all resample or re-encode the image — injecting the very artifact under study. Rotations by multiples of 90° are exact, and were tested separately: off-domain accuracy moved 0.009 over the whole orbit.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BACKUP  ·  B2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A2E"/>
                </a:solidFill>
                <a:latin typeface="Cambria"/>
              </a:rPr>
              <a:t>The ADM anomaly, reported as unresolved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3547872" cy="157276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1883664"/>
            <a:ext cx="3108960" cy="817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D9484E"/>
                </a:solidFill>
                <a:latin typeface="Cambria"/>
              </a:rPr>
              <a:t>0.863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65806"/>
            <a:ext cx="3182112" cy="629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ADM in-domain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under center_crop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700784"/>
            <a:ext cx="3547872" cy="157276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53712" y="1883664"/>
            <a:ext cx="3108960" cy="817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1C7293"/>
                </a:solidFill>
                <a:latin typeface="Cambria"/>
              </a:rPr>
              <a:t>0.986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565806"/>
            <a:ext cx="3182112" cy="629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ADM in-domain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under rescale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00784"/>
            <a:ext cx="3538728" cy="157276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02752" y="1883664"/>
            <a:ext cx="3099816" cy="817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D9484E"/>
                </a:solidFill>
                <a:latin typeface="Cambria"/>
              </a:rPr>
              <a:t>0.501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2565806"/>
            <a:ext cx="3172968" cy="629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ADM transfer</a:t>
            </a:r>
          </a:p>
          <a:p>
            <a:pPr algn="ctr">
              <a:lnSpc>
                <a:spcPct val="116000"/>
              </a:lnSpc>
            </a:pPr>
            <a:r>
              <a:rPr sz="1250" b="0" i="0">
                <a:solidFill>
                  <a:srgbClr val="6B7691"/>
                </a:solidFill>
                <a:latin typeface="Calibri"/>
              </a:rPr>
              <a:t>under rescale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7327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7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Under center_crop ADM is the hardest generator in the study; under rescale it is nearly trivial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005072"/>
            <a:ext cx="106737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And its transfer falls to chance — the lowest figure anywhere in the 7×7.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36592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645152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The obvious explanation predicts the opposite of what we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974336"/>
            <a:ext cx="106737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ADM is the only PNG generator in an otherwise JPEG dataset. That asymmetry should make ADM easiest under center_crop, where native pixels and real-image JPEG blocking both survive. We observe the reverse.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0585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614416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ADM's row feeds the ranking, so we report it rather than explain it 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943600"/>
            <a:ext cx="106737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Offering an untested mechanism here would weaken the parts of the analysis we can support. Re-encoding ADM as JPEG and re-running its row would separate format from resolution.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BACKUP  ·  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A2E"/>
                </a:solidFill>
                <a:latin typeface="Cambria"/>
              </a:rPr>
              <a:t>The zero-parameter rules, cell by cell</a:t>
            </a:r>
          </a:p>
        </p:txBody>
      </p:sp>
      <p:pic>
        <p:nvPicPr>
          <p:cNvPr id="4" name="Picture 3" descr="transfer_matrices_baselines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591056"/>
            <a:ext cx="7955279" cy="43714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 spc="180">
                <a:solidFill>
                  <a:srgbClr val="D9484E"/>
                </a:solidFill>
                <a:latin typeface="Calibri"/>
              </a:rPr>
              <a:t>BACKUP  ·  B4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A2E"/>
                </a:solidFill>
                <a:latin typeface="Cambria"/>
              </a:rPr>
              <a:t>Radially averaged spectra, per generator</a:t>
            </a:r>
          </a:p>
        </p:txBody>
      </p:sp>
      <p:pic>
        <p:nvPicPr>
          <p:cNvPr id="4" name="Picture 3" descr="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37" y="1773936"/>
            <a:ext cx="10200821" cy="27066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88289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4791456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No window function is 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5120640"/>
            <a:ext cx="106737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The pad arm's zero border is a real feature of that arm, not an artifact of the analysis, so windowing it away would hide the thing we are measuring.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870448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9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779008"/>
            <a:ext cx="106737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A2E"/>
                </a:solidFill>
                <a:latin typeface="Calibri"/>
              </a:rPr>
              <a:t>Rotations cannot be tested this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6108192"/>
            <a:ext cx="106737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E3A59"/>
                </a:solidFill>
                <a:latin typeface="Calibri"/>
              </a:rPr>
              <a:t>Radially averaged spectra are exactly invariant under multiples of 90°: (u, v) → (−v, u) preserves radius. The invariance is a theorem, not a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